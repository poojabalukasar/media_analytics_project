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8" r:id="rId3"/>
    <p:sldId id="260" r:id="rId4"/>
    <p:sldId id="278" r:id="rId5"/>
    <p:sldId id="279" r:id="rId6"/>
    <p:sldId id="259" r:id="rId7"/>
    <p:sldId id="280" r:id="rId8"/>
    <p:sldId id="281" r:id="rId9"/>
    <p:sldId id="262" r:id="rId10"/>
    <p:sldId id="282" r:id="rId11"/>
    <p:sldId id="283" r:id="rId12"/>
    <p:sldId id="263" r:id="rId13"/>
    <p:sldId id="286" r:id="rId14"/>
    <p:sldId id="287" r:id="rId15"/>
    <p:sldId id="267" r:id="rId16"/>
    <p:sldId id="284" r:id="rId17"/>
    <p:sldId id="288" r:id="rId18"/>
    <p:sldId id="285" r:id="rId19"/>
    <p:sldId id="268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12/13/2025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12/13/2025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6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02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0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0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6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9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91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61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8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3519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52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5528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17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6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8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8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fi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Social Media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91400" y="4191000"/>
            <a:ext cx="19391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By Pooja </a:t>
            </a:r>
            <a:r>
              <a:rPr lang="en-US" sz="2000" b="1" dirty="0" err="1" smtClean="0"/>
              <a:t>Kasar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91BF77-E0B5-9D6E-E4E2-1884C3938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28799"/>
            <a:ext cx="11582400" cy="4724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rgbClr val="C00000"/>
                </a:solidFill>
              </a:rPr>
              <a:t>Objective: </a:t>
            </a:r>
            <a:r>
              <a:rPr lang="en-US" sz="1400" dirty="0"/>
              <a:t>Analyze multi‑platform like Facebook, Google &amp; LinkedIn social media performance using dashboards.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Improve decision-making using KPIs and trend analysis.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Build dashboards in Excel, Tableau, and Power BI.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Deliver actionable insights for marketing optimization.</a:t>
            </a:r>
          </a:p>
          <a:p>
            <a:pPr marL="0" indent="0">
              <a:buNone/>
            </a:pPr>
            <a:endParaRPr lang="en-IN" sz="1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rgbClr val="C00000"/>
                </a:solidFill>
              </a:rPr>
              <a:t>Tools Used: </a:t>
            </a:r>
          </a:p>
          <a:p>
            <a:pPr marL="0" indent="0">
              <a:buNone/>
            </a:pPr>
            <a:endParaRPr lang="en-IN" sz="1400" b="1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02B6F-02F4-E8A7-5B51-9DAC74031E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03" y="3873177"/>
            <a:ext cx="1490514" cy="635644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7" name="Picture 2" descr="Image result for tableau">
            <a:extLst>
              <a:ext uri="{FF2B5EF4-FFF2-40B4-BE49-F238E27FC236}">
                <a16:creationId xmlns:a16="http://schemas.microsoft.com/office/drawing/2014/main" id="{4236B6E1-D3F5-4DEC-A13C-256B838B7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914" y="3863275"/>
            <a:ext cx="1139486" cy="63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ySQL round logo transparent PNG - StickPNG">
            <a:extLst>
              <a:ext uri="{FF2B5EF4-FFF2-40B4-BE49-F238E27FC236}">
                <a16:creationId xmlns:a16="http://schemas.microsoft.com/office/drawing/2014/main" id="{AF41F709-6A35-7690-CE42-1F9A0AA27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503" y="3863274"/>
            <a:ext cx="729879" cy="6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of a company&#10;&#10;AI-generated content may be incorrect.">
            <a:extLst>
              <a:ext uri="{FF2B5EF4-FFF2-40B4-BE49-F238E27FC236}">
                <a16:creationId xmlns:a16="http://schemas.microsoft.com/office/drawing/2014/main" id="{18A1B103-A8E0-B22E-7E43-6CE1CD9ABE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863274"/>
            <a:ext cx="762000" cy="64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KPI List – Business Relevance (Facebook, Google, LinkedIn)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8695266" cy="4546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u="sng" dirty="0"/>
              <a:t>1. Facebook Dataset – KPIs &amp; Business Relevance</a:t>
            </a:r>
          </a:p>
          <a:p>
            <a:pPr marL="0" indent="0">
              <a:buNone/>
            </a:pPr>
            <a:r>
              <a:rPr lang="en-US" sz="1500" dirty="0"/>
              <a:t>• Impressions – Measures ad visibility and audience reach.</a:t>
            </a:r>
          </a:p>
          <a:p>
            <a:pPr marL="0" indent="0">
              <a:buNone/>
            </a:pPr>
            <a:r>
              <a:rPr lang="en-US" sz="1500" dirty="0"/>
              <a:t>• Link Clicks – Indicates engagement and traffic generated.</a:t>
            </a:r>
          </a:p>
          <a:p>
            <a:pPr marL="0" indent="0">
              <a:buNone/>
            </a:pPr>
            <a:r>
              <a:rPr lang="en-US" sz="1500" dirty="0"/>
              <a:t>• Cost – Total amount spent on Facebook ads.</a:t>
            </a:r>
          </a:p>
          <a:p>
            <a:pPr marL="0" indent="0">
              <a:buNone/>
            </a:pPr>
            <a:r>
              <a:rPr lang="en-US" sz="1500" dirty="0"/>
              <a:t>• Cost Per Click (CPC) – Shows efficiency of spending (Cost / Clicks).</a:t>
            </a:r>
          </a:p>
          <a:p>
            <a:pPr marL="0" indent="0">
              <a:buNone/>
            </a:pPr>
            <a:r>
              <a:rPr lang="en-US" sz="1500" dirty="0"/>
              <a:t>• Click-Through Rate (CTR%) – Measures effectiveness of creatives (Clicks / Impressions).</a:t>
            </a:r>
          </a:p>
          <a:p>
            <a:pPr marL="0" indent="0">
              <a:buNone/>
            </a:pPr>
            <a:r>
              <a:rPr lang="en-US" sz="1500" dirty="0"/>
              <a:t>• Age-wise Link Clicks – Helps identify best-performing age segments.</a:t>
            </a:r>
          </a:p>
          <a:p>
            <a:pPr marL="0" indent="0">
              <a:buNone/>
            </a:pPr>
            <a:r>
              <a:rPr lang="en-US" sz="1500" dirty="0"/>
              <a:t>• Campaign-wise Cost – Used for budget allocation and optimization.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232C-776C-D921-B950-75460727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574D-02FD-1508-74E7-8D7060D0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KPI List – Business Relevance (Facebook, Google, LinkedIn)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464D3-A6CA-1069-3D42-87C4BCC7D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930400"/>
            <a:ext cx="7924800" cy="401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u="sng" dirty="0"/>
              <a:t>2. Google Ads Dataset – KPIs &amp; Business Relevance</a:t>
            </a:r>
          </a:p>
          <a:p>
            <a:pPr marL="0" indent="0">
              <a:buNone/>
            </a:pPr>
            <a:r>
              <a:rPr lang="en-US" sz="1500" dirty="0"/>
              <a:t>• Total Impressions – Displays how often Google ads were shown.</a:t>
            </a:r>
          </a:p>
          <a:p>
            <a:pPr marL="0" indent="0">
              <a:buNone/>
            </a:pPr>
            <a:r>
              <a:rPr lang="en-US" sz="1500" dirty="0"/>
              <a:t>• Total Clicks – Measures user engagement and interest.</a:t>
            </a:r>
          </a:p>
          <a:p>
            <a:pPr marL="0" indent="0">
              <a:buNone/>
            </a:pPr>
            <a:r>
              <a:rPr lang="en-US" sz="1500" dirty="0"/>
              <a:t>• Total Cost – Tracks total Google ad spend.</a:t>
            </a:r>
          </a:p>
          <a:p>
            <a:pPr marL="0" indent="0">
              <a:buNone/>
            </a:pPr>
            <a:r>
              <a:rPr lang="en-US" sz="1500" dirty="0"/>
              <a:t>• Conversions – Represents user actions (sales, leads, etc.).</a:t>
            </a:r>
          </a:p>
          <a:p>
            <a:pPr marL="0" indent="0">
              <a:buNone/>
            </a:pPr>
            <a:r>
              <a:rPr lang="en-US" sz="1500" dirty="0"/>
              <a:t>• CTR% – Indicates how often impressions become clicks.</a:t>
            </a:r>
          </a:p>
          <a:p>
            <a:pPr marL="0" indent="0">
              <a:buNone/>
            </a:pPr>
            <a:r>
              <a:rPr lang="en-US" sz="1500" dirty="0"/>
              <a:t>• CPC – Monitors cost efficiency for each click.</a:t>
            </a:r>
          </a:p>
          <a:p>
            <a:pPr marL="0" indent="0">
              <a:buNone/>
            </a:pPr>
            <a:r>
              <a:rPr lang="en-US" sz="1500" dirty="0"/>
              <a:t>• Campaign-wise Spend – Shows top-performing and high-budget campaigns.</a:t>
            </a:r>
          </a:p>
          <a:p>
            <a:pPr marL="0" indent="0">
              <a:buNone/>
            </a:pPr>
            <a:r>
              <a:rPr lang="en-US" sz="1500" dirty="0"/>
              <a:t>• Ad Group Click Distribution – Identifies best-performing ad groups.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0533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FA5F-52CF-E58A-04A8-73299FB6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1D330-96EB-30A2-C0F8-F933716D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KPI List – Business Relevance (Facebook, Google, LinkedIn)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ED84A-C0DB-841E-D407-F1C73BA08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930400"/>
            <a:ext cx="76200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u="sng" dirty="0"/>
              <a:t>3. LinkedIn Dataset – KPIs &amp; Business Relevance</a:t>
            </a:r>
          </a:p>
          <a:p>
            <a:pPr marL="0" indent="0">
              <a:buNone/>
            </a:pPr>
            <a:r>
              <a:rPr lang="en-US" sz="1500" dirty="0"/>
              <a:t>• Total Comments – Measures audience engagement through discussions.</a:t>
            </a:r>
          </a:p>
          <a:p>
            <a:pPr marL="0" indent="0">
              <a:buNone/>
            </a:pPr>
            <a:r>
              <a:rPr lang="en-US" sz="1500" dirty="0"/>
              <a:t>• Total Followers – Indicates audience size and brand authority.</a:t>
            </a:r>
          </a:p>
          <a:p>
            <a:pPr marL="0" indent="0">
              <a:buNone/>
            </a:pPr>
            <a:r>
              <a:rPr lang="en-US" sz="1500" dirty="0"/>
              <a:t>• Total Views – Shows post visibility and reach.</a:t>
            </a:r>
          </a:p>
          <a:p>
            <a:pPr marL="0" indent="0">
              <a:buNone/>
            </a:pPr>
            <a:r>
              <a:rPr lang="en-US" sz="1500" dirty="0"/>
              <a:t>• Total Reactions – Measures user response to content.</a:t>
            </a:r>
          </a:p>
          <a:p>
            <a:pPr marL="0" indent="0">
              <a:buNone/>
            </a:pPr>
            <a:r>
              <a:rPr lang="en-US" sz="1500" dirty="0"/>
              <a:t>• Total Reposts – Indicates content shareability and organic reach.</a:t>
            </a:r>
          </a:p>
          <a:p>
            <a:pPr marL="0" indent="0">
              <a:buNone/>
            </a:pPr>
            <a:r>
              <a:rPr lang="en-US" sz="1500" dirty="0"/>
              <a:t>• Engagement Rate – Shows overall effectiveness of posts.</a:t>
            </a:r>
          </a:p>
          <a:p>
            <a:pPr marL="0" indent="0">
              <a:buNone/>
            </a:pPr>
            <a:r>
              <a:rPr lang="en-US" sz="1500" dirty="0"/>
              <a:t>• Followers by Topic – Helps understand audience interests.</a:t>
            </a:r>
          </a:p>
          <a:p>
            <a:pPr marL="0" indent="0">
              <a:buNone/>
            </a:pPr>
            <a:r>
              <a:rPr lang="en-US" sz="1500" dirty="0"/>
              <a:t>• Day/Month-wise Views – Helps optimize posting schedule.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5954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83DCF-BE0C-A95F-4506-64D207CBF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1219199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5715-E40C-0DCF-DF4B-183FA968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68428-5B12-5069-6A5C-24DC4E7A2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C93C7-71A4-028D-9C37-ED405C417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16" y="1295400"/>
            <a:ext cx="12196916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66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6856D-8977-E64B-0858-5B4981C0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E6E8-EA4E-C85B-8139-D7D22BD0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B3C04-F9C6-AA89-53E2-BEEE7A26E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12192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3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9221"/>
            <a:ext cx="10058400" cy="7389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Tableau Dashboard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C21B3-D5CE-31D5-8344-B2A21DB87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12192000" cy="60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BBC37-F348-6080-E766-185AB8F48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03F7-E085-E6DD-EE5B-9D8F932E4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9221"/>
            <a:ext cx="10058400" cy="7389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Tableau Dashboard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4DE979-2588-3E78-0FCE-89FBA5697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121920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4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C50D-D3C5-AEC1-917C-056AAB6D9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7DC06-9734-A9BD-27A6-682E496AF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9221"/>
            <a:ext cx="10058400" cy="7389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Tableau Dashboard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4797B-0764-AF32-078C-7533856AA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1"/>
            <a:ext cx="12192000" cy="602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2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221"/>
            <a:ext cx="10668000" cy="7389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Power BI Dashboard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309A7-A8EB-4C42-4FF5-1A863CB0F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698"/>
            <a:ext cx="12192000" cy="599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E7AF1-90C3-6199-DB0D-7379909F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A99C-D6A2-86F1-C3C2-D6FAEAAB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221"/>
            <a:ext cx="10668000" cy="7389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Power BI Dashboard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F7578C-7CA0-0DE0-5A5F-9B2C274C8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" y="1066800"/>
            <a:ext cx="12177252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6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DBC51-761C-DE4B-9C9C-E15E6658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07D78-FA80-E2D2-2393-B5F219D6D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221"/>
            <a:ext cx="10668000" cy="7389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Power BI Dashboard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43B9F9-7428-5F0C-1669-C84B74658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74" y="1066800"/>
            <a:ext cx="12226174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0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CCB2-562B-1B0D-404B-C80A4F6A6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5471-C225-AF9E-103A-76D44AB5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SQL Query Image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6980A-D42C-1A5F-D279-BF95235DC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12192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7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70B7-3D8D-276D-73CD-A64D8FFC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0C24-F3B6-4E55-E8CE-1A780702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SQL Query Image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DBC53-2BC1-D717-1B0B-9A522F02A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36"/>
          <a:stretch/>
        </p:blipFill>
        <p:spPr>
          <a:xfrm>
            <a:off x="19664" y="1295400"/>
            <a:ext cx="12172335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3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45E5-491D-640B-AF5B-A7D28DB7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8CB7-4722-71DB-C520-13050D40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SQL Query Image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98A8F-FF2A-BC8E-5EEA-BB1E3AA3C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" y="1295400"/>
            <a:ext cx="12184626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8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66FD-056E-F82A-BEC5-4976DFF84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82C8-397A-C64A-CF6E-CFC7D9B9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SQL Query Image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CE25B-4344-7670-265C-189A8EFCD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12192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CFA0-B504-4D53-4B4D-BF7DE986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9844-EB1A-41C1-1EB7-3CA01971B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4076E-D43E-1074-8914-F548D86505E4}"/>
              </a:ext>
            </a:extLst>
          </p:cNvPr>
          <p:cNvSpPr txBox="1"/>
          <p:nvPr/>
        </p:nvSpPr>
        <p:spPr>
          <a:xfrm>
            <a:off x="533400" y="1600200"/>
            <a:ext cx="107442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u="sng" dirty="0"/>
              <a:t>Facebook Analytics – Key Takeaways</a:t>
            </a:r>
          </a:p>
          <a:p>
            <a:endParaRPr lang="en-US" sz="1600" u="sng" dirty="0"/>
          </a:p>
          <a:p>
            <a:r>
              <a:rPr lang="en-US" sz="1400" dirty="0"/>
              <a:t>• The highest link clicks came from the 18–24 and 25–34 age groups, showing strong engagement among younger audiences.</a:t>
            </a:r>
          </a:p>
          <a:p>
            <a:r>
              <a:rPr lang="en-US" sz="1400" dirty="0"/>
              <a:t>• Campaign 28 consumed a significant portion of the overall budget, indicating potential overspending or high competitive bidding.</a:t>
            </a:r>
          </a:p>
          <a:p>
            <a:r>
              <a:rPr lang="en-US" sz="1400" dirty="0"/>
              <a:t>• CTR remains moderate, suggesting creatives could be optimized for better user response.</a:t>
            </a:r>
          </a:p>
          <a:p>
            <a:r>
              <a:rPr lang="en-US" sz="1400" dirty="0"/>
              <a:t>• Impressions and clicks show seasonal variation, highlighting the importance of timing in campaign planning.</a:t>
            </a:r>
          </a:p>
          <a:p>
            <a:endParaRPr lang="en-US" sz="1400" dirty="0"/>
          </a:p>
          <a:p>
            <a:r>
              <a:rPr lang="en-US" sz="1600" dirty="0"/>
              <a:t>2. </a:t>
            </a:r>
            <a:r>
              <a:rPr lang="en-US" sz="1600" u="sng" dirty="0"/>
              <a:t>Google Ads Analytics – Key Takeaways</a:t>
            </a:r>
          </a:p>
          <a:p>
            <a:pPr marL="342900" indent="-342900">
              <a:buAutoNum type="arabicPeriod"/>
            </a:pPr>
            <a:endParaRPr lang="en-US" sz="1600" u="sng" dirty="0"/>
          </a:p>
          <a:p>
            <a:r>
              <a:rPr lang="en-US" sz="1400" dirty="0"/>
              <a:t>• Total impressions and clicks remain consistent across months, except for a notable dip in May.</a:t>
            </a:r>
          </a:p>
          <a:p>
            <a:r>
              <a:rPr lang="en-US" sz="1400" dirty="0"/>
              <a:t>• Top-performing ad groups contribute more than 60% of total clicks, showing strong keyword/audience alignment.</a:t>
            </a:r>
          </a:p>
          <a:p>
            <a:r>
              <a:rPr lang="en-US" sz="1400" dirty="0"/>
              <a:t>• Cost per ad group shows moderate variation, suggesting stable bidding strategy overall.</a:t>
            </a:r>
          </a:p>
          <a:p>
            <a:r>
              <a:rPr lang="en-US" sz="1400" dirty="0"/>
              <a:t>• Conversion volume remains strong, indicating effective campaign structure.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600" u="sng" dirty="0"/>
              <a:t>3. LinkedIn Analytics – Key Takeaways</a:t>
            </a:r>
          </a:p>
          <a:p>
            <a:endParaRPr lang="en-US" sz="1600" u="sng" dirty="0"/>
          </a:p>
          <a:p>
            <a:r>
              <a:rPr lang="en-US" sz="1400" dirty="0"/>
              <a:t>• Career and Data Analytics topics generated the highest follower growth, showing strong audience interest.</a:t>
            </a:r>
          </a:p>
          <a:p>
            <a:r>
              <a:rPr lang="en-US" sz="1400" dirty="0"/>
              <a:t>• Views peak in January and December, suggesting seasonal audience engagement patterns.</a:t>
            </a:r>
          </a:p>
          <a:p>
            <a:r>
              <a:rPr lang="en-US" sz="1400" dirty="0"/>
              <a:t>• Reactions and comments were highest on professional development content, indicating preference for upskilling themes.</a:t>
            </a:r>
          </a:p>
          <a:p>
            <a:r>
              <a:rPr lang="en-US" sz="1400" dirty="0"/>
              <a:t>• Engagement rate shows variation by month, with spikes tied to trending or motivational posts.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991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F504C-DB59-346B-295F-991BFE28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3684-C63E-4878-A7DA-47BB1344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2" cy="762000"/>
          </a:xfrm>
        </p:spPr>
        <p:txBody>
          <a:bodyPr/>
          <a:lstStyle/>
          <a:p>
            <a:r>
              <a:rPr lang="en-US" dirty="0"/>
              <a:t>Future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F6C6E-78EB-1CDF-275F-14DCFEECFEA0}"/>
              </a:ext>
            </a:extLst>
          </p:cNvPr>
          <p:cNvSpPr txBox="1"/>
          <p:nvPr/>
        </p:nvSpPr>
        <p:spPr>
          <a:xfrm>
            <a:off x="720012" y="1371600"/>
            <a:ext cx="8740602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Future Recommendations – Facebook</a:t>
            </a:r>
          </a:p>
          <a:p>
            <a:endParaRPr lang="en-US" u="sng" dirty="0"/>
          </a:p>
          <a:p>
            <a:r>
              <a:rPr lang="en-US" sz="1400" dirty="0"/>
              <a:t>• Reallocate budget from underperforming campaigns to high-performing segments like ages 18–34.</a:t>
            </a:r>
          </a:p>
          <a:p>
            <a:r>
              <a:rPr lang="en-US" sz="1400" dirty="0"/>
              <a:t>• Increase A/B testing for creatives to improve CTR and reduce CPC.</a:t>
            </a:r>
          </a:p>
          <a:p>
            <a:r>
              <a:rPr lang="en-US" sz="1400" dirty="0"/>
              <a:t>• Review Campaign 28 spend efficiency to ensure it aligns with ROI expectations.</a:t>
            </a:r>
          </a:p>
          <a:p>
            <a:r>
              <a:rPr lang="en-US" sz="1400" dirty="0"/>
              <a:t>• Use frequency capping to reduce ad fatigue, especially in long-running campaigns.</a:t>
            </a:r>
          </a:p>
          <a:p>
            <a:endParaRPr lang="en-US" sz="1400" dirty="0"/>
          </a:p>
          <a:p>
            <a:r>
              <a:rPr lang="en-US" u="sng" dirty="0"/>
              <a:t>Future Recommendations – Google Ads</a:t>
            </a:r>
          </a:p>
          <a:p>
            <a:endParaRPr lang="en-US" u="sng" dirty="0"/>
          </a:p>
          <a:p>
            <a:r>
              <a:rPr lang="en-US" sz="1400" dirty="0"/>
              <a:t>• Investigate the drop in impressions and clicks in May to avoid future performance gaps.</a:t>
            </a:r>
          </a:p>
          <a:p>
            <a:r>
              <a:rPr lang="en-US" sz="1400" dirty="0"/>
              <a:t>• Expand high-performing ad groups and pause low performers to improve ROI.</a:t>
            </a:r>
          </a:p>
          <a:p>
            <a:r>
              <a:rPr lang="en-US" sz="1400" dirty="0"/>
              <a:t>• Increase use of responsive search ads to optimize ad strength and relevance.</a:t>
            </a:r>
          </a:p>
          <a:p>
            <a:r>
              <a:rPr lang="en-US" sz="1400" dirty="0"/>
              <a:t>• Enhance conversion tracking to better understand campaign contributions.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u="sng" dirty="0"/>
              <a:t>Future Recommendations – LinkedIn</a:t>
            </a:r>
          </a:p>
          <a:p>
            <a:endParaRPr lang="en-US" u="sng" dirty="0"/>
          </a:p>
          <a:p>
            <a:r>
              <a:rPr lang="en-US" sz="1400" dirty="0"/>
              <a:t>• Focus more on Career, Data Analytics, and Content Creation topics for maximizing engagement.</a:t>
            </a:r>
          </a:p>
          <a:p>
            <a:r>
              <a:rPr lang="en-US" sz="1400" dirty="0"/>
              <a:t>• Publish content more frequently during high-view months like January and December.</a:t>
            </a:r>
          </a:p>
          <a:p>
            <a:r>
              <a:rPr lang="en-US" sz="1400" dirty="0"/>
              <a:t>• Use carousels and storytelling posts to boost reactions and shares.</a:t>
            </a:r>
          </a:p>
          <a:p>
            <a:r>
              <a:rPr lang="en-US" sz="1400" dirty="0"/>
              <a:t>• Improve posting schedule by analyzing day-of-week engagement patterns.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4889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62C718-7049-8BBD-3EEE-7C347D60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362200"/>
            <a:ext cx="6028265" cy="2241448"/>
          </a:xfrm>
        </p:spPr>
        <p:txBody>
          <a:bodyPr/>
          <a:lstStyle/>
          <a:p>
            <a:r>
              <a:rPr lang="en-IN" dirty="0"/>
              <a:t>Thank You😊</a:t>
            </a:r>
          </a:p>
        </p:txBody>
      </p:sp>
    </p:spTree>
    <p:extLst>
      <p:ext uri="{BB962C8B-B14F-4D97-AF65-F5344CB8AC3E}">
        <p14:creationId xmlns:p14="http://schemas.microsoft.com/office/powerpoint/2010/main" val="127414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</TotalTime>
  <Words>803</Words>
  <Application>Microsoft Office PowerPoint</Application>
  <PresentationFormat>Widescreen</PresentationFormat>
  <Paragraphs>97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Franklin Gothic Medium</vt:lpstr>
      <vt:lpstr>IBM Plex Sans</vt:lpstr>
      <vt:lpstr>Trebuchet MS</vt:lpstr>
      <vt:lpstr>Wingdings 3</vt:lpstr>
      <vt:lpstr>Facet</vt:lpstr>
      <vt:lpstr>Social Media Analytics</vt:lpstr>
      <vt:lpstr>Project Summary</vt:lpstr>
      <vt:lpstr>KPI List – Business Relevance (Facebook, Google, LinkedIn)</vt:lpstr>
      <vt:lpstr>KPI List – Business Relevance (Facebook, Google, LinkedIn)</vt:lpstr>
      <vt:lpstr>KPI List – Business Relevance (Facebook, Google, LinkedIn)</vt:lpstr>
      <vt:lpstr>Excel Dashboard</vt:lpstr>
      <vt:lpstr>Excel Dashboard</vt:lpstr>
      <vt:lpstr>Excel Dashboard</vt:lpstr>
      <vt:lpstr>Tableau Dashboard</vt:lpstr>
      <vt:lpstr>Tableau Dashboard</vt:lpstr>
      <vt:lpstr>Tableau Dashboard</vt:lpstr>
      <vt:lpstr>Power BI Dashboard</vt:lpstr>
      <vt:lpstr>Power BI Dashboard</vt:lpstr>
      <vt:lpstr>Power BI Dashboard</vt:lpstr>
      <vt:lpstr>SQL Query Image</vt:lpstr>
      <vt:lpstr>SQL Query Image</vt:lpstr>
      <vt:lpstr>SQL Query Image</vt:lpstr>
      <vt:lpstr>SQL Query Image</vt:lpstr>
      <vt:lpstr>Key Takeaways</vt:lpstr>
      <vt:lpstr>Future Recommendations</vt:lpstr>
      <vt:lpstr>Thank You😊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Analytics</dc:title>
  <dc:creator>Pooja Kasar</dc:creator>
  <cp:lastModifiedBy>ADMIN</cp:lastModifiedBy>
  <cp:revision>40</cp:revision>
  <dcterms:created xsi:type="dcterms:W3CDTF">2025-08-02T10:30:38Z</dcterms:created>
  <dcterms:modified xsi:type="dcterms:W3CDTF">2025-12-13T11:16:00Z</dcterms:modified>
</cp:coreProperties>
</file>